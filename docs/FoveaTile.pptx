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442" r:id="rId2"/>
    <p:sldId id="450" r:id="rId3"/>
    <p:sldId id="457" r:id="rId4"/>
    <p:sldId id="452" r:id="rId5"/>
    <p:sldId id="451" r:id="rId6"/>
    <p:sldId id="453" r:id="rId7"/>
    <p:sldId id="454" r:id="rId8"/>
    <p:sldId id="455" r:id="rId9"/>
    <p:sldId id="456" r:id="rId10"/>
    <p:sldId id="44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8F1"/>
    <a:srgbClr val="D7E0F5"/>
    <a:srgbClr val="9246EE"/>
    <a:srgbClr val="562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0A1B5D5-9B99-4C35-A422-299274C87663}" styleName="Medium Style 1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9"/>
    <p:restoredTop sz="83750"/>
  </p:normalViewPr>
  <p:slideViewPr>
    <p:cSldViewPr snapToGrid="0">
      <p:cViewPr varScale="1">
        <p:scale>
          <a:sx n="124" d="100"/>
          <a:sy n="124" d="100"/>
        </p:scale>
        <p:origin x="196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4AB5A-DE0F-FC44-9E14-C1EE266F309D}" type="datetimeFigureOut">
              <a:rPr lang="en-US" smtClean="0"/>
              <a:t>10/25/26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36FDA-0698-A144-8D6D-8E0779307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3445-1EC3-5A5D-064F-56EA8054C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E06C1-3C7E-C69B-161C-AB31C57B6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628FC-527D-CBF9-9D4D-1B78EBCAB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如果每塊都用 </a:t>
            </a:r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q_attn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打分，太慢；只用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prior，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又不夠準。</a:t>
            </a:r>
            <a:endParaRPr lang="en-GB" altLang="zh-TW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b2048、S=12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為例（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K−1=7，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a=6，b=6）：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TW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名：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直接保留。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最有把握的那塊，不花打分成本。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TW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2–13 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名（</a:t>
            </a:r>
            <a:r>
              <a:rPr lang="en-US" altLang="zh-TW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塊）：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跑 </a:t>
            </a:r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q_attn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選出分數最高的 </a:t>
            </a:r>
            <a:r>
              <a:rPr lang="en-US" altLang="zh-TW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TW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 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名以後：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直接丟掉，連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都不跑。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最後保留 </a:t>
            </a:r>
            <a:r>
              <a:rPr lang="en-US" altLang="zh-TW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+ 6 = 7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塊，再加上縮圖，正好 </a:t>
            </a:r>
            <a:r>
              <a:rPr lang="en-US" altLang="zh-TW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塊。</a:t>
            </a:r>
          </a:p>
          <a:p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選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時，真正難判斷的不是排名最前面的（大概率要留），也不是最後面的（大概率要丟），而是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排名在「留下」和「丟掉」交界附近的那些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對這些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最沒把握，所以把昂貴的 </a:t>
            </a:r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q_attn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集中用在這裡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AD94E-7518-521C-9EA3-BAB9E3802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63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FF88F-60CB-4E31-9E7F-16578AD05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B887B-45DA-1395-175F-FADD94BF7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291AC-4056-C201-FB54-9A0921589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①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成本隨解析度線性增加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InternVL3.5-8B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把高解析度圖切成很多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每塊都轉成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token。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HR-Bench 8K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為例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「高解析度圖片能大幅提升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的細節理解，但代價是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數線性增加。以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的圖為例，不壓縮時第一個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要等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秒。」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「memory overhead」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指扣掉模型權重後的峰值記憶體增量，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②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現有的壓縮方法，壓得太晚</a:t>
            </a:r>
            <a:endParaRPr lang="en-GB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FastV、SparseVLM、IF-Prune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都是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先讓所有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通過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ViT、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送進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LLM，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再剪掉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；VisionZip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雖然在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之後就壓縮，但所有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還是要先過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ViT。 → 188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時，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FastV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仍要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3.19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s、8.34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GB，VisionZip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仍要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2.45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「現有的壓縮方法有一個共同的盲點：它們都是先把整張圖編碼完、送進模型，才決定要丟掉哪些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token。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所以圖越大，花在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『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之後會被丟掉的部分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』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的計算就越多。」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③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直接縮小整張圖，會看不見細節</a:t>
            </a:r>
            <a:endParaRPr lang="en-GB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V* Bench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64%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的目標物件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，縮成低解析度全圖後比一個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 patch（14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px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還小。 → 只看縮圖答不出來；但只看局部，又會失去整張圖的版面和脈絡。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「那直接把圖縮小呢？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V*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這個資料集裡，六成以上的目標物件縮小後比一個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patch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還小，根本看不到。我們需要的是：整張圖的脈絡要有，關鍵區域的細節也要有。」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「所以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的想法是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before you encode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先看、再決定要編碼什麼。」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95F67-A72A-49FC-CF7D-48D2C7557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21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1BBF5-1487-F712-B99B-21F35391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807A9-9754-7C76-6038-4E224C3C0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064A3-FA0D-EDE8-1C0E-639DAE98C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「所以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的想法是 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before you encode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先看、再決定要編碼什麼。」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FoveaStream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TW" altLang="en-US" dirty="0"/>
              <a:t>注視點分塊串流</a:t>
            </a:r>
            <a:r>
              <a:rPr lang="en-US" altLang="zh-TW" dirty="0"/>
              <a:t> </a:t>
            </a:r>
            <a:r>
              <a:rPr lang="zh-TW" altLang="en-US" dirty="0"/>
              <a:t>或「</a:t>
            </a:r>
            <a:r>
              <a:rPr lang="zh-TW" alt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視野中心分塊串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選擇，同時表達了「中央凹」和「串流、成本有上限」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「Look Before You Encode」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點出最關鍵的差異：在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之前就決定要編碼哪些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「Resolution-Independent」</a:t>
            </a:r>
            <a:r>
              <a:rPr lang="zh-TW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直接對應縮放曲線的結果：成本不隨解析度增加</a:t>
            </a:r>
            <a:endParaRPr lang="en-GB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同一張圖，同時用兩種解析度放進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一種是看整張圖的低解析度版本，另一種是只看局部、接近原始解析度的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tile。budget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會在兩者之間分配。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Coverage Tiles：</a:t>
            </a:r>
            <a:r>
              <a:rPr lang="zh-TW" altLang="en-US" dirty="0"/>
              <a:t>強調低解析度 </a:t>
            </a:r>
            <a:r>
              <a:rPr lang="en-GB" dirty="0"/>
              <a:t>tile </a:t>
            </a:r>
            <a:r>
              <a:rPr lang="zh-TW" altLang="en-US" dirty="0"/>
              <a:t>負責整張圖的全域資訊</a:t>
            </a:r>
            <a:endParaRPr lang="en-GB" altLang="zh-TW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Detail Tiles：</a:t>
            </a:r>
            <a:r>
              <a:rPr lang="zh-TW" altLang="en-US" dirty="0"/>
              <a:t>強調高解析度 </a:t>
            </a:r>
            <a:r>
              <a:rPr lang="en-GB" dirty="0"/>
              <a:t>tile </a:t>
            </a:r>
            <a:r>
              <a:rPr lang="zh-TW" altLang="en-US" dirty="0"/>
              <a:t>負責局部細節。</a:t>
            </a:r>
            <a:endParaRPr lang="en-GB" altLang="zh-TW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Prior Scores：</a:t>
            </a:r>
            <a:r>
              <a:rPr lang="zh-TW" altLang="en-US" dirty="0"/>
              <a:t>保留你原本方法中用全域影像資訊預測哪些高解析度 </a:t>
            </a:r>
            <a:r>
              <a:rPr lang="en-GB" dirty="0"/>
              <a:t>tile </a:t>
            </a:r>
            <a:r>
              <a:rPr lang="zh-TW" altLang="en-US" dirty="0"/>
              <a:t>值得選取的概念</a:t>
            </a:r>
            <a:endParaRPr lang="en-GB" altLang="zh-TW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怎麼產生：</a:t>
            </a:r>
            <a:endParaRPr lang="en-GB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整張圖縮小成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的網格，盡量用滿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用官方的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tiling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切成很多塊（最多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塊），每塊接近原始解析度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數量：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 = ⌊K/2⌋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塊，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一定保留</a:t>
            </a:r>
            <a:endParaRPr lang="en-GB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從所有細節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裡挑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− 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提供什麼：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全域資訊：版面結構、物件之間的關係、整體場景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局部細節：小字、小物件、紋理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為什麼要多尺度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5D92F-4B6F-0A6C-F74C-AE15F0ABB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9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3EE6-8783-7F02-7CBF-7A2BC8C22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D7840-6CEF-F6B5-226B-A76E44124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6582F-5812-A62A-28EB-8352D0383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舉例：一張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照片（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3840×2160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），預設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b1536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K=6，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所以覆蓋和細節各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塊：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原圖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3840×2160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├─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覆蓋：整張圖縮成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3×1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的網格（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1344×448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）→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      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每個像素約代表原圖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3~5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個像素：看得到整體場景，但看不清小東西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└─ 細節：官方網格約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7×5 = 35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塊，每塊約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549×432 →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縮成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448×448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接近原始解析度：看得清楚小字和小物件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→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粗排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q_attn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打分，依問題挑出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其餘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塊直接丟掉，連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都不跑</a:t>
            </a:r>
          </a:p>
          <a:p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寫進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KV：[3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塊細節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tile（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依空間順序）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][3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塊覆蓋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tile]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共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 × 256 = 1,536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88576-869C-FCCD-6054-BDCA427EE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91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754C-FB68-227A-8383-33F9154C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25564-BB7C-3265-65E2-3D5EC5D60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B4E91-311D-E4E5-F7CD-F677321FB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問題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：舊版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SVMA（v0）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的打分窗口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表是在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InfoVQA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測試集）上調的，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 = 0.75K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也是看測試集子集選的，這屬於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leakage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原則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所有超參數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只在校準集上決定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，測試集只報告結果；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判斷標準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事先定好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校準集與測試集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兩邊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題目和圖片都不重疊</a:t>
            </a:r>
            <a:endParaRPr lang="en-GB" altLang="zh-TW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是標準的評測切分，數字可以直接跟其他論文比，所以放在測試這一邊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保留率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是「壓縮後還保留了不壓縮時多少比例的表現」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某方法在某資料集上的分數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÷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同一資料集上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uncompressed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的分數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重點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：保留率的轉折點在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b1536，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b1024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跳到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96%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b2048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之後沒有再進步。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重點 </a:t>
            </a:r>
            <a:r>
              <a:rPr lang="en-US" altLang="zh-TW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：純覆蓋的平均保留率一樣、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更低，但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最差任務（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 Sensing）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明顯比較差。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覆蓋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數）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⌊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K/2⌋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平均分數跟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0.75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1.0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打平，但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最差任務最穩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b2048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時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85%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純覆蓋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74%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打分窗口）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S0/2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已經夠了，再大只多花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TTFT；S=0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會顯著變差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預設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: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保留率轉折點：校準集上保留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95.6%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0.77 s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BF1E8-F3C2-AA67-DFED-394A856DE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05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86AA-8EC0-40BA-E271-B25AFD79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39353-B3BE-7A22-5312-39FBE6D04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5EAB7-66CC-A478-8017-1739558A8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各資料集隨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的變化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SparseVLM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DocVQA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掉得很明顯，都只有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左右。</a:t>
            </a: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VisionZip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在每個資料集都墊底。</a:t>
            </a: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InfoVQA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MME-RW Lite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en-GB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開始就在最上面甚至超過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uncompressed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的虛線（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那點是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51.22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，稍微低於虛線的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51.59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V*：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這張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偏弱，從圖上一眼就看得出來。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8AAEA-3D65-71FE-D527-1505518EB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69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37C6-0C8C-DCA8-5AD7-1A0E4C43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A6ABF-8247-971A-5B69-CB46D05CF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BE430-7048-6B68-A197-CAB2B0535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相同延遲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：在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0.6～0.9 s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這段，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的曲線都在最上面，同樣的延遲下保留率最高。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FastV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b2560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時大約追平，但那時它的延遲已經到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0.85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相同保留率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b1536（0.72 s，95.0%）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的保留率和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IF-Prune b1536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差不多（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94.9%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），但延遲少了大約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1.18 → 0.72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s）。</a:t>
            </a:r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最高保留率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b3072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達到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99.3%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，比所有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都高，延遲仍然比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uncompressed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低大約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1.74 → 1.20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s）。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只用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0.33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～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0.77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保留率是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91.5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～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99.3%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，整條線都在左上角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FastV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 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SparseVLM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不論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多少都要大約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1.3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～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1.5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在圖上幾乎是兩條垂直線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IF-Prune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要大約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uncompressed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2.05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還多。它要另外算一次完整的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所以壓縮之後反而用更多記憶體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VisionZip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一樣省記憶體，但保留率低很多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b1536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這個點，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0.41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GB／95.0%，IF-Prune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2.95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GB／94.9%：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保留率幾乎一樣，記憶體大約只要七分之一。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7B3CD-56A2-ABE6-B664-9BE237E88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63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22C1-5A73-AE03-0B23-D40E4F54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B9671-E168-2207-4634-9C217AF7A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64B7B-ACC4-E245-5127-B0F1B674F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IF-Prune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比，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、記憶體少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86%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；和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FastV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比，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少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、記憶體少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SparseVLM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VisionZip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未達到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的話，表裡填「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」，再加註腳寫出最高保留率，會比直接寫數字乾淨。這樣也剛好說明它們在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3072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以內根本到不了這個準確度。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83FA3-8CB9-F984-FCF9-E477335A3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58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C4F02-D43F-F2C8-EBEE-35442B62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3E211-284A-54BB-67BD-7D996D771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4A767-15D4-E1B5-F0A6-B5F9F9665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這張圖要說明的是：</a:t>
            </a: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的推論成本跟輸入解析度無關，只由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決定。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其他方法壓縮的是「已經算出來的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token」，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所以圖片越大，成本照樣越高。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其他方法都得先看完整張圖。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不管後面怎麼剪，每個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都要先跑過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ViT，ViT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的成本一定隨解析度線性增加。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VisionZip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在進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前就剪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token，LLM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的成本雖然固定，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這段還是省不掉。所以它的記憶體是平的，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卻還是一路往上。</a:t>
            </a:r>
            <a:endParaRPr lang="en-GB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FastV、SparseVLM、IF-Prune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還要讓所有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先進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LLM。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它們在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的前幾層才開始剪，所以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的計算量和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記憶體也跟著增加。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IF-Prune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要算完整的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記憶體甚至比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uncompressed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還高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FoveaTile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一開始就決定要看哪些 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tile。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它先用低解析度的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掌握全圖，再挑出有限數量的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 tile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逐塊編碼，寫進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KV。ViT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處理的量都由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決定（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 grid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最多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tiles），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輸入多大都一樣，所以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和記憶體兩條線都是平的。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解析度越高，差距越大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下一步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GlobalCom2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HiRED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的比較、第二個模型（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LLaVA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-OV）、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一般場景資料集、寫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的工程優化（目前佔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最多的一段）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A08D4-D8B7-726E-6AC7-CFE45811C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98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3EF5-A8E0-B884-DB9B-39BA1312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000CD-B824-FCB7-B284-628D8A249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20FEA-45A2-95B3-3493-2D522511E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現在的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SVMA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是「低解析度全圖 </a:t>
            </a:r>
            <a:r>
              <a:rPr lang="en-US" altLang="zh-TW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高解析度 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tile」，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只是全圖那邊固定只有 </a:t>
            </a:r>
            <a:r>
              <a:rPr lang="en-US" altLang="zh-TW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塊</a:t>
            </a:r>
            <a:endParaRPr lang="en-GB" altLang="zh-TW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多尺度版：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SVMA 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從固定 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 = 1 </a:t>
            </a:r>
            <a:r>
              <a:rPr lang="zh-TW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推廣成可調的 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TW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再加上一條分配規則</a:t>
            </a:r>
            <a:endParaRPr lang="en-GB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F6BD-CF5B-28F1-13F5-5ACF204E3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36FDA-0698-A144-8D6D-8E07793071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05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18BCF-9723-A379-8678-7731C86A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37B4-B67F-1371-EED8-C3A653D0266F}"/>
              </a:ext>
            </a:extLst>
          </p:cNvPr>
          <p:cNvSpPr txBox="1">
            <a:spLocks/>
          </p:cNvSpPr>
          <p:nvPr/>
        </p:nvSpPr>
        <p:spPr>
          <a:xfrm>
            <a:off x="1763472" y="651004"/>
            <a:ext cx="9659384" cy="561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/>
              <a:t>SVMA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BB549-2364-B3AD-D363-558A4EAB0EF1}"/>
              </a:ext>
            </a:extLst>
          </p:cNvPr>
          <p:cNvSpPr txBox="1">
            <a:spLocks/>
          </p:cNvSpPr>
          <p:nvPr/>
        </p:nvSpPr>
        <p:spPr>
          <a:xfrm>
            <a:off x="1647358" y="1212227"/>
            <a:ext cx="4840528" cy="357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>
                <a:solidFill>
                  <a:schemeClr val="accent1"/>
                </a:solidFill>
              </a:rPr>
              <a:t>Boundary Scoring</a:t>
            </a:r>
          </a:p>
          <a:p>
            <a:endParaRPr lang="en-GB" sz="1600" b="1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2F6B59-25E6-A2BE-3381-247422439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80" b="28622"/>
          <a:stretch>
            <a:fillRect/>
          </a:stretch>
        </p:blipFill>
        <p:spPr>
          <a:xfrm>
            <a:off x="1763472" y="3196118"/>
            <a:ext cx="8867211" cy="33161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200914-1892-4C7D-6E2B-91EF30CC3896}"/>
              </a:ext>
            </a:extLst>
          </p:cNvPr>
          <p:cNvSpPr txBox="1"/>
          <p:nvPr/>
        </p:nvSpPr>
        <p:spPr>
          <a:xfrm>
            <a:off x="1657289" y="1607379"/>
            <a:ext cx="8973394" cy="1390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FF0000"/>
                </a:solidFill>
              </a:rPr>
              <a:t>S</a:t>
            </a:r>
            <a:r>
              <a:rPr lang="en-US" sz="1600"/>
              <a:t> is the total number of tiles evaluated by </a:t>
            </a:r>
            <a:r>
              <a:rPr lang="en-US" sz="1600" err="1"/>
              <a:t>q_attn</a:t>
            </a:r>
            <a:r>
              <a:rPr lang="en-US" sz="1600"/>
              <a:t>. </a:t>
            </a:r>
            <a:r>
              <a:rPr lang="en-GB" sz="1600"/>
              <a:t>By definition: </a:t>
            </a:r>
            <a:r>
              <a:rPr lang="en-GB" sz="1600" b="1" i="1"/>
              <a:t>S = a + 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1"/>
              <a:t>a</a:t>
            </a:r>
            <a:r>
              <a:rPr lang="en-US" sz="1400"/>
              <a:t>: the number of tiles from the higher-ranked side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i="1"/>
              <a:t>b</a:t>
            </a:r>
            <a:r>
              <a:rPr lang="en-US" sz="1400"/>
              <a:t>: the number of tiles from the lower-ranked side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currently set a = b = S/2</a:t>
            </a:r>
          </a:p>
        </p:txBody>
      </p:sp>
    </p:spTree>
    <p:extLst>
      <p:ext uri="{BB962C8B-B14F-4D97-AF65-F5344CB8AC3E}">
        <p14:creationId xmlns:p14="http://schemas.microsoft.com/office/powerpoint/2010/main" val="314882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977F8-FDD2-72D8-8C82-5A97CAD9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198324-CDC7-9FA7-256F-3EDA35A322FD}"/>
              </a:ext>
            </a:extLst>
          </p:cNvPr>
          <p:cNvSpPr txBox="1">
            <a:spLocks/>
          </p:cNvSpPr>
          <p:nvPr/>
        </p:nvSpPr>
        <p:spPr>
          <a:xfrm>
            <a:off x="1763472" y="651003"/>
            <a:ext cx="9361728" cy="7868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dirty="0"/>
              <a:t>Observation and Motivation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CF48DC-1454-FC9E-DC1B-465C4DAAC69D}"/>
              </a:ext>
            </a:extLst>
          </p:cNvPr>
          <p:cNvSpPr txBox="1">
            <a:spLocks/>
          </p:cNvSpPr>
          <p:nvPr/>
        </p:nvSpPr>
        <p:spPr>
          <a:xfrm>
            <a:off x="1763472" y="1126416"/>
            <a:ext cx="9062623" cy="311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i="1" dirty="0"/>
              <a:t>Seeing More Costs More: The Resolution Bottleneck of High-Resolution VLMs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3A87E71-D3D4-9467-4882-30531817AFBE}"/>
              </a:ext>
            </a:extLst>
          </p:cNvPr>
          <p:cNvSpPr txBox="1">
            <a:spLocks/>
          </p:cNvSpPr>
          <p:nvPr/>
        </p:nvSpPr>
        <p:spPr>
          <a:xfrm>
            <a:off x="1495582" y="1853636"/>
            <a:ext cx="9702505" cy="4560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GB" sz="1400" b="1" dirty="0"/>
              <a:t>Cost grows linearly with resolution</a:t>
            </a:r>
          </a:p>
          <a:p>
            <a:pPr marL="357188" lvl="1" indent="0">
              <a:buNone/>
            </a:pPr>
            <a:r>
              <a:rPr lang="en-GB" sz="1200" b="1" dirty="0">
                <a:solidFill>
                  <a:schemeClr val="tx1"/>
                </a:solidFill>
              </a:rPr>
              <a:t>InternVL3.5-8B</a:t>
            </a:r>
            <a:r>
              <a:rPr lang="en-GB" sz="1200" dirty="0">
                <a:solidFill>
                  <a:schemeClr val="tx1"/>
                </a:solidFill>
              </a:rPr>
              <a:t> splits a high-resolution image into tiles, and each tile becomes 256 visual tokens. On HR-Bench 8K:</a:t>
            </a:r>
          </a:p>
          <a:p>
            <a:pPr>
              <a:buFont typeface="+mj-lt"/>
              <a:buAutoNum type="arabicPeriod"/>
            </a:pPr>
            <a:endParaRPr lang="en-GB" sz="1400" b="1" dirty="0"/>
          </a:p>
          <a:p>
            <a:pPr>
              <a:buFont typeface="+mj-lt"/>
              <a:buAutoNum type="arabicPeriod"/>
            </a:pPr>
            <a:endParaRPr lang="en-GB" sz="1400" b="1" dirty="0"/>
          </a:p>
          <a:p>
            <a:pPr>
              <a:buFont typeface="+mj-lt"/>
              <a:buAutoNum type="arabicPeriod"/>
            </a:pPr>
            <a:endParaRPr lang="en-GB" sz="1400" b="1" dirty="0"/>
          </a:p>
          <a:p>
            <a:pPr>
              <a:buFont typeface="+mj-lt"/>
              <a:buAutoNum type="arabicPeriod"/>
            </a:pPr>
            <a:endParaRPr lang="en-GB" sz="1400" b="1" dirty="0"/>
          </a:p>
          <a:p>
            <a:pPr>
              <a:buFont typeface="+mj-lt"/>
              <a:buAutoNum type="arabicPeriod"/>
            </a:pPr>
            <a:r>
              <a:rPr lang="en-GB" sz="1400" b="1" dirty="0"/>
              <a:t>Existing token pruning acts too late</a:t>
            </a:r>
          </a:p>
          <a:p>
            <a:pPr marL="666750" lvl="1" indent="-277813">
              <a:buFont typeface="Wingdings" pitchFamily="2" charset="2"/>
              <a:buChar char="§"/>
            </a:pPr>
            <a:r>
              <a:rPr lang="en-GB" sz="1200" i="1" dirty="0" err="1">
                <a:solidFill>
                  <a:srgbClr val="0070C0"/>
                </a:solidFill>
              </a:rPr>
              <a:t>FastV</a:t>
            </a:r>
            <a:r>
              <a:rPr lang="en-GB" sz="1200" dirty="0">
                <a:solidFill>
                  <a:srgbClr val="0070C0"/>
                </a:solidFill>
              </a:rPr>
              <a:t>, </a:t>
            </a:r>
            <a:r>
              <a:rPr lang="en-GB" sz="1200" i="1" dirty="0" err="1">
                <a:solidFill>
                  <a:srgbClr val="0070C0"/>
                </a:solidFill>
              </a:rPr>
              <a:t>SparseVLM</a:t>
            </a:r>
            <a:r>
              <a:rPr lang="en-GB" sz="1200" dirty="0">
                <a:solidFill>
                  <a:srgbClr val="0070C0"/>
                </a:solidFill>
              </a:rPr>
              <a:t> </a:t>
            </a:r>
            <a:r>
              <a:rPr lang="en-GB" sz="1200" dirty="0"/>
              <a:t>and </a:t>
            </a:r>
            <a:r>
              <a:rPr lang="en-GB" sz="1200" i="1" dirty="0">
                <a:solidFill>
                  <a:srgbClr val="0070C0"/>
                </a:solidFill>
              </a:rPr>
              <a:t>IF-Prune</a:t>
            </a:r>
            <a:r>
              <a:rPr lang="en-GB" sz="1200" dirty="0"/>
              <a:t> encode all tiles with the ViT and feed them into the LLM, and only then drop tokens.</a:t>
            </a:r>
          </a:p>
          <a:p>
            <a:pPr marL="666750" lvl="1" indent="-277813">
              <a:buFont typeface="Wingdings" pitchFamily="2" charset="2"/>
              <a:buChar char="§"/>
            </a:pPr>
            <a:r>
              <a:rPr lang="en-GB" sz="1200" i="1" dirty="0" err="1">
                <a:solidFill>
                  <a:srgbClr val="0070C0"/>
                </a:solidFill>
              </a:rPr>
              <a:t>VisionZip</a:t>
            </a:r>
            <a:r>
              <a:rPr lang="en-GB" sz="1200" dirty="0"/>
              <a:t> prunes right after the ViT, but every tile still goes through the ViT.</a:t>
            </a:r>
          </a:p>
          <a:p>
            <a:pPr>
              <a:buFont typeface="+mj-lt"/>
              <a:buAutoNum type="arabicPeriod"/>
            </a:pPr>
            <a:r>
              <a:rPr lang="en-GB" sz="1400" b="1" dirty="0"/>
              <a:t>Downscaling the whole image loses the details</a:t>
            </a:r>
          </a:p>
          <a:p>
            <a:pPr marL="666750" lvl="1" indent="-277813">
              <a:buFont typeface="Wingdings" pitchFamily="2" charset="2"/>
              <a:buChar char="§"/>
            </a:pPr>
            <a:r>
              <a:rPr lang="en-GB" sz="1200" dirty="0"/>
              <a:t>On </a:t>
            </a:r>
            <a:r>
              <a:rPr lang="en-GB" sz="1200" dirty="0">
                <a:solidFill>
                  <a:schemeClr val="accent6"/>
                </a:solidFill>
              </a:rPr>
              <a:t>V* Bench</a:t>
            </a:r>
            <a:r>
              <a:rPr lang="en-GB" sz="1200" dirty="0"/>
              <a:t>, </a:t>
            </a:r>
            <a:r>
              <a:rPr lang="en-GB" sz="1200" b="1" dirty="0"/>
              <a:t>64% of target objects </a:t>
            </a:r>
            <a:r>
              <a:rPr lang="en-GB" sz="1200" dirty="0"/>
              <a:t>become smaller than a single ViT patch (14 </a:t>
            </a:r>
            <a:r>
              <a:rPr lang="en-GB" sz="1200" dirty="0" err="1"/>
              <a:t>px</a:t>
            </a:r>
            <a:r>
              <a:rPr lang="en-GB" sz="1200" dirty="0"/>
              <a:t>) in the low-resolution overview.</a:t>
            </a:r>
          </a:p>
          <a:p>
            <a:pPr marL="666750" lvl="1" indent="-277813">
              <a:buFont typeface="Wingdings" pitchFamily="2" charset="2"/>
              <a:buChar char="§"/>
            </a:pPr>
            <a:r>
              <a:rPr lang="en-GB" sz="1200" dirty="0"/>
              <a:t>A </a:t>
            </a:r>
            <a:r>
              <a:rPr lang="en-GB" sz="1200" b="1" i="1" dirty="0"/>
              <a:t>global thumbnail </a:t>
            </a:r>
            <a:r>
              <a:rPr lang="en-GB" sz="1200" dirty="0"/>
              <a:t>alone cannot answer the question, but </a:t>
            </a:r>
            <a:r>
              <a:rPr lang="en-GB" sz="1200" b="1" i="1" dirty="0"/>
              <a:t>local crops </a:t>
            </a:r>
            <a:r>
              <a:rPr lang="en-GB" sz="1200" dirty="0"/>
              <a:t>alone lose the global layout and context.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8342DB3-9D7A-7DFA-FE76-6648FC913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705079"/>
              </p:ext>
            </p:extLst>
          </p:nvPr>
        </p:nvGraphicFramePr>
        <p:xfrm>
          <a:off x="1959263" y="2685553"/>
          <a:ext cx="4043972" cy="8229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06868">
                  <a:extLst>
                    <a:ext uri="{9D8B030D-6E8A-4147-A177-3AD203B41FA5}">
                      <a16:colId xmlns:a16="http://schemas.microsoft.com/office/drawing/2014/main" val="3156315940"/>
                    </a:ext>
                  </a:extLst>
                </a:gridCol>
                <a:gridCol w="784543">
                  <a:extLst>
                    <a:ext uri="{9D8B030D-6E8A-4147-A177-3AD203B41FA5}">
                      <a16:colId xmlns:a16="http://schemas.microsoft.com/office/drawing/2014/main" val="1621740251"/>
                    </a:ext>
                  </a:extLst>
                </a:gridCol>
                <a:gridCol w="784543">
                  <a:extLst>
                    <a:ext uri="{9D8B030D-6E8A-4147-A177-3AD203B41FA5}">
                      <a16:colId xmlns:a16="http://schemas.microsoft.com/office/drawing/2014/main" val="3265258895"/>
                    </a:ext>
                  </a:extLst>
                </a:gridCol>
                <a:gridCol w="868018">
                  <a:extLst>
                    <a:ext uri="{9D8B030D-6E8A-4147-A177-3AD203B41FA5}">
                      <a16:colId xmlns:a16="http://schemas.microsoft.com/office/drawing/2014/main" val="3349134149"/>
                    </a:ext>
                  </a:extLst>
                </a:gridCol>
              </a:tblGrid>
              <a:tr h="223937">
                <a:tc>
                  <a:txBody>
                    <a:bodyPr/>
                    <a:lstStyle/>
                    <a:p>
                      <a:r>
                        <a:rPr lang="en-US" sz="1200" dirty="0"/>
                        <a:t>Raw tiles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696045"/>
                  </a:ext>
                </a:extLst>
              </a:tr>
              <a:tr h="223937">
                <a:tc>
                  <a:txBody>
                    <a:bodyPr/>
                    <a:lstStyle/>
                    <a:p>
                      <a:r>
                        <a:rPr lang="en-US" sz="1200" dirty="0"/>
                        <a:t>TTFT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0.41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5.26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17.22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366079"/>
                  </a:ext>
                </a:extLst>
              </a:tr>
              <a:tr h="223937">
                <a:tc>
                  <a:txBody>
                    <a:bodyPr/>
                    <a:lstStyle/>
                    <a:p>
                      <a:r>
                        <a:rPr lang="en-US" sz="1200" dirty="0"/>
                        <a:t>Memory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0.53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5.37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12.90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741587"/>
                  </a:ext>
                </a:extLst>
              </a:tr>
            </a:tbl>
          </a:graphicData>
        </a:graphic>
      </p:graphicFrame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16DA3C53-62C7-0772-135B-DFA424329E5D}"/>
              </a:ext>
            </a:extLst>
          </p:cNvPr>
          <p:cNvSpPr/>
          <p:nvPr/>
        </p:nvSpPr>
        <p:spPr>
          <a:xfrm>
            <a:off x="6864627" y="2981739"/>
            <a:ext cx="2557670" cy="822960"/>
          </a:xfrm>
          <a:prstGeom prst="wedgeRoundRectCallout">
            <a:avLst>
              <a:gd name="adj1" fmla="val -78864"/>
              <a:gd name="adj2" fmla="val 372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On a 48 GB GPU, that leaves room for only ~2 concurrent requests</a:t>
            </a:r>
          </a:p>
        </p:txBody>
      </p:sp>
    </p:spTree>
    <p:extLst>
      <p:ext uri="{BB962C8B-B14F-4D97-AF65-F5344CB8AC3E}">
        <p14:creationId xmlns:p14="http://schemas.microsoft.com/office/powerpoint/2010/main" val="7117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CD366-AFCF-ED85-0536-17E4E39C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5B02EA-6179-EB72-0326-BA698CC64E53}"/>
              </a:ext>
            </a:extLst>
          </p:cNvPr>
          <p:cNvSpPr txBox="1">
            <a:spLocks/>
          </p:cNvSpPr>
          <p:nvPr/>
        </p:nvSpPr>
        <p:spPr>
          <a:xfrm>
            <a:off x="1763472" y="651003"/>
            <a:ext cx="9361728" cy="7868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dirty="0"/>
              <a:t>Look Before You Encode: Foveated Tile Streaming for Resolution-Independent VLM Inference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852E48D-0340-55E7-EC7A-9004E479C312}"/>
              </a:ext>
            </a:extLst>
          </p:cNvPr>
          <p:cNvSpPr txBox="1">
            <a:spLocks/>
          </p:cNvSpPr>
          <p:nvPr/>
        </p:nvSpPr>
        <p:spPr>
          <a:xfrm>
            <a:off x="1763471" y="1603495"/>
            <a:ext cx="9062623" cy="118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i="1" dirty="0"/>
              <a:t>Look Before You Encode:</a:t>
            </a:r>
            <a:r>
              <a:rPr lang="en-GB" sz="1400" dirty="0"/>
              <a:t> Determining which tiles to encode *</a:t>
            </a:r>
            <a:r>
              <a:rPr lang="en-GB" sz="1400" dirty="0">
                <a:solidFill>
                  <a:schemeClr val="accent1"/>
                </a:solidFill>
              </a:rPr>
              <a:t>before</a:t>
            </a:r>
            <a:r>
              <a:rPr lang="en-GB" sz="1400" dirty="0"/>
              <a:t>* the ViT stage</a:t>
            </a:r>
          </a:p>
          <a:p>
            <a:r>
              <a:rPr lang="en-GB" sz="1400" b="1" i="1" dirty="0"/>
              <a:t>Resolution-Independent: </a:t>
            </a:r>
            <a:r>
              <a:rPr lang="en-GB" sz="1400" dirty="0"/>
              <a:t>Directly corresponds to the outcome shown on the scaling curve - </a:t>
            </a:r>
            <a:r>
              <a:rPr lang="en-GB" sz="1400" dirty="0">
                <a:solidFill>
                  <a:schemeClr val="accent1"/>
                </a:solidFill>
              </a:rPr>
              <a:t>costs do not increase as resolution rises</a:t>
            </a:r>
          </a:p>
          <a:p>
            <a:endParaRPr lang="en-GB" sz="14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CE300-407F-25B4-A438-D0F4231FD577}"/>
              </a:ext>
            </a:extLst>
          </p:cNvPr>
          <p:cNvSpPr txBox="1"/>
          <p:nvPr/>
        </p:nvSpPr>
        <p:spPr>
          <a:xfrm>
            <a:off x="1763471" y="2801329"/>
            <a:ext cx="3438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/>
              <a:t>Main Concept: </a:t>
            </a:r>
            <a:r>
              <a:rPr lang="en-GB" sz="1400" b="1" dirty="0">
                <a:solidFill>
                  <a:schemeClr val="accent1"/>
                </a:solidFill>
              </a:rPr>
              <a:t>Two Tile Scales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BEAB797-3F82-3CE5-CF1C-8862295E37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16742" y="3120852"/>
              <a:ext cx="8956079" cy="1986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9993">
                      <a:extLst>
                        <a:ext uri="{9D8B030D-6E8A-4147-A177-3AD203B41FA5}">
                          <a16:colId xmlns:a16="http://schemas.microsoft.com/office/drawing/2014/main" val="358115320"/>
                        </a:ext>
                      </a:extLst>
                    </a:gridCol>
                    <a:gridCol w="3917667">
                      <a:extLst>
                        <a:ext uri="{9D8B030D-6E8A-4147-A177-3AD203B41FA5}">
                          <a16:colId xmlns:a16="http://schemas.microsoft.com/office/drawing/2014/main" val="2558162601"/>
                        </a:ext>
                      </a:extLst>
                    </a:gridCol>
                    <a:gridCol w="3828419">
                      <a:extLst>
                        <a:ext uri="{9D8B030D-6E8A-4147-A177-3AD203B41FA5}">
                          <a16:colId xmlns:a16="http://schemas.microsoft.com/office/drawing/2014/main" val="24403313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Coverage Tiles </a:t>
                          </a:r>
                        </a:p>
                        <a:p>
                          <a:pPr algn="ctr"/>
                          <a:r>
                            <a:rPr lang="en-US" sz="1400"/>
                            <a:t>(Low Resolution, Full Image)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Detail Tiles </a:t>
                          </a:r>
                        </a:p>
                        <a:p>
                          <a:pPr algn="ctr"/>
                          <a:r>
                            <a:rPr lang="en-US" sz="1400"/>
                            <a:t>(High Resolution, Local Regions)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37072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Generation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Resize the entire image into an (m)</a:t>
                          </a:r>
                          <a:r>
                            <a:rPr lang="zh-TW" altLang="en-US" sz="1200"/>
                            <a:t> </a:t>
                          </a:r>
                          <a:r>
                            <a:rPr lang="en-US" sz="1200"/>
                            <a:t>tile grid, filling as many of the (m) tiles as possible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Use the </a:t>
                          </a:r>
                          <a:r>
                            <a:rPr lang="en-US" sz="1200" b="1"/>
                            <a:t>official dynamic tiling</a:t>
                          </a:r>
                          <a:r>
                            <a:rPr lang="en-US" sz="1200"/>
                            <a:t> method to split into multiple tiles</a:t>
                          </a:r>
                          <a:r>
                            <a:rPr lang="zh-TW" altLang="en-US" sz="1200"/>
                            <a:t> </a:t>
                          </a:r>
                          <a:r>
                            <a:rPr lang="en-US" altLang="zh-TW" sz="1200"/>
                            <a:t>(each close to the original resolution)</a:t>
                          </a:r>
                          <a:endParaRPr 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7374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Quantity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(m =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⌊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/2⌋</m:t>
                              </m:r>
                            </m:oMath>
                          </a14:m>
                          <a:r>
                            <a:rPr lang="en-US" sz="1200" dirty="0"/>
                            <a:t>) tiles, always retained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Select (K - m) tiles from all available detail tiles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828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Information</a:t>
                          </a:r>
                        </a:p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Provided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Global context: layout, object relationships, and overall scene</a:t>
                          </a:r>
                        </a:p>
                        <a:p>
                          <a:r>
                            <a:rPr lang="en-US" sz="1200" dirty="0"/>
                            <a:t>(Used to compute </a:t>
                          </a:r>
                          <a:r>
                            <a:rPr lang="en-US" sz="1200" b="1" dirty="0"/>
                            <a:t>prior scores</a:t>
                          </a:r>
                          <a:r>
                            <a:rPr lang="en-US" sz="12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Local details: small text, small objects, and textures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6748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ABEAB797-3F82-3CE5-CF1C-8862295E37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16742" y="3120852"/>
              <a:ext cx="8956079" cy="1986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9993">
                      <a:extLst>
                        <a:ext uri="{9D8B030D-6E8A-4147-A177-3AD203B41FA5}">
                          <a16:colId xmlns:a16="http://schemas.microsoft.com/office/drawing/2014/main" val="358115320"/>
                        </a:ext>
                      </a:extLst>
                    </a:gridCol>
                    <a:gridCol w="3917667">
                      <a:extLst>
                        <a:ext uri="{9D8B030D-6E8A-4147-A177-3AD203B41FA5}">
                          <a16:colId xmlns:a16="http://schemas.microsoft.com/office/drawing/2014/main" val="2558162601"/>
                        </a:ext>
                      </a:extLst>
                    </a:gridCol>
                    <a:gridCol w="3828419">
                      <a:extLst>
                        <a:ext uri="{9D8B030D-6E8A-4147-A177-3AD203B41FA5}">
                          <a16:colId xmlns:a16="http://schemas.microsoft.com/office/drawing/2014/main" val="244033139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Coverage Tiles </a:t>
                          </a:r>
                        </a:p>
                        <a:p>
                          <a:pPr algn="ctr"/>
                          <a:r>
                            <a:rPr lang="en-US" sz="1400"/>
                            <a:t>(Low Resolution, Full Image)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Detail Tiles </a:t>
                          </a:r>
                        </a:p>
                        <a:p>
                          <a:pPr algn="ctr"/>
                          <a:r>
                            <a:rPr lang="en-US" sz="1400"/>
                            <a:t>(High Resolution, Local Regions)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370723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Generation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Resize the entire image into an (m)</a:t>
                          </a:r>
                          <a:r>
                            <a:rPr lang="zh-TW" altLang="en-US" sz="1200"/>
                            <a:t> </a:t>
                          </a:r>
                          <a:r>
                            <a:rPr lang="en-US" sz="1200"/>
                            <a:t>tile grid, filling as many of the (m) tiles as possible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Use the </a:t>
                          </a:r>
                          <a:r>
                            <a:rPr lang="en-US" sz="1200" b="1"/>
                            <a:t>official dynamic tiling</a:t>
                          </a:r>
                          <a:r>
                            <a:rPr lang="en-US" sz="1200"/>
                            <a:t> method to split into multiple tiles</a:t>
                          </a:r>
                          <a:r>
                            <a:rPr lang="zh-TW" altLang="en-US" sz="1200"/>
                            <a:t> </a:t>
                          </a:r>
                          <a:r>
                            <a:rPr lang="en-US" altLang="zh-TW" sz="1200"/>
                            <a:t>(each close to the original resolution)</a:t>
                          </a:r>
                          <a:endParaRPr 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7374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Quantity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068" t="-272414" r="-98382" b="-1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Select (K - m) tiles from all available detail tiles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82807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Information</a:t>
                          </a:r>
                        </a:p>
                        <a:p>
                          <a:r>
                            <a:rPr lang="en-US" sz="1400" b="1">
                              <a:solidFill>
                                <a:schemeClr val="tx1"/>
                              </a:solidFill>
                            </a:rPr>
                            <a:t>Provided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Global context: layout, object relationships, and overall scene</a:t>
                          </a:r>
                        </a:p>
                        <a:p>
                          <a:r>
                            <a:rPr lang="en-US" sz="1200" dirty="0"/>
                            <a:t>(Used to compute </a:t>
                          </a:r>
                          <a:r>
                            <a:rPr lang="en-US" sz="1200" b="1" dirty="0"/>
                            <a:t>prior scores</a:t>
                          </a:r>
                          <a:r>
                            <a:rPr lang="en-US" sz="12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Local details: small text, small objects, and textures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6748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864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F9A4-0D52-6F24-2976-757ED871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CC7E8D-B014-EE70-88D5-148DC94FA8AC}"/>
              </a:ext>
            </a:extLst>
          </p:cNvPr>
          <p:cNvSpPr txBox="1">
            <a:spLocks/>
          </p:cNvSpPr>
          <p:nvPr/>
        </p:nvSpPr>
        <p:spPr>
          <a:xfrm>
            <a:off x="1763472" y="651003"/>
            <a:ext cx="9361728" cy="78685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/>
              <a:t>Look Before You Encode: Foveated Tile Streaming for Resolution-Independent VLM Inference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ECF1B-F085-8A5E-DD87-6BFB76307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453" y="1617318"/>
            <a:ext cx="8155094" cy="458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87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3FC6-5723-D6AA-171A-8AE03F1C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001E93-29C7-A7E7-072D-99A691B65F87}"/>
              </a:ext>
            </a:extLst>
          </p:cNvPr>
          <p:cNvSpPr txBox="1">
            <a:spLocks/>
          </p:cNvSpPr>
          <p:nvPr/>
        </p:nvSpPr>
        <p:spPr>
          <a:xfrm>
            <a:off x="1763472" y="651004"/>
            <a:ext cx="8043137" cy="5151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b="1" dirty="0" err="1">
                <a:solidFill>
                  <a:schemeClr val="accent1"/>
                </a:solidFill>
              </a:rPr>
              <a:t>FoveaTile</a:t>
            </a:r>
            <a:r>
              <a:rPr lang="en-GB" sz="2200" b="1" dirty="0">
                <a:solidFill>
                  <a:schemeClr val="accent1"/>
                </a:solidFill>
              </a:rPr>
              <a:t>: </a:t>
            </a:r>
            <a:r>
              <a:rPr lang="en-GB" sz="2200" dirty="0"/>
              <a:t>Calibration Set, Test Set, and Calibration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5D35DD-C69A-15D3-7DE4-015D0EBA8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346000"/>
              </p:ext>
            </p:extLst>
          </p:nvPr>
        </p:nvGraphicFramePr>
        <p:xfrm>
          <a:off x="1346028" y="1450120"/>
          <a:ext cx="6688747" cy="232949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71230">
                  <a:extLst>
                    <a:ext uri="{9D8B030D-6E8A-4147-A177-3AD203B41FA5}">
                      <a16:colId xmlns:a16="http://schemas.microsoft.com/office/drawing/2014/main" val="3084889082"/>
                    </a:ext>
                  </a:extLst>
                </a:gridCol>
                <a:gridCol w="2478811">
                  <a:extLst>
                    <a:ext uri="{9D8B030D-6E8A-4147-A177-3AD203B41FA5}">
                      <a16:colId xmlns:a16="http://schemas.microsoft.com/office/drawing/2014/main" val="3110149130"/>
                    </a:ext>
                  </a:extLst>
                </a:gridCol>
                <a:gridCol w="1593850">
                  <a:extLst>
                    <a:ext uri="{9D8B030D-6E8A-4147-A177-3AD203B41FA5}">
                      <a16:colId xmlns:a16="http://schemas.microsoft.com/office/drawing/2014/main" val="3733760991"/>
                    </a:ext>
                  </a:extLst>
                </a:gridCol>
                <a:gridCol w="1444856">
                  <a:extLst>
                    <a:ext uri="{9D8B030D-6E8A-4147-A177-3AD203B41FA5}">
                      <a16:colId xmlns:a16="http://schemas.microsoft.com/office/drawing/2014/main" val="993105105"/>
                    </a:ext>
                  </a:extLst>
                </a:gridCol>
              </a:tblGrid>
              <a:tr h="2925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TW" sz="1200" b="1">
                          <a:effectLst/>
                        </a:rPr>
                        <a:t>Purpose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TW" sz="1200" b="1" dirty="0">
                          <a:effectLst/>
                        </a:rPr>
                        <a:t>Dataset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TW" sz="1200" b="1">
                          <a:effectLst/>
                        </a:rPr>
                        <a:t>Number of questions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TW" sz="1200" b="1">
                          <a:effectLst/>
                        </a:rPr>
                        <a:t>Score</a:t>
                      </a:r>
                      <a:endParaRPr lang="zh-TW" altLang="en-US" sz="1200" b="1"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501044426"/>
                  </a:ext>
                </a:extLst>
              </a:tr>
              <a:tr h="284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Calibration</a:t>
                      </a:r>
                      <a:endParaRPr lang="zh-TW" altLang="en-US" sz="12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 err="1">
                          <a:solidFill>
                            <a:schemeClr val="accent6"/>
                          </a:solidFill>
                          <a:effectLst/>
                        </a:rPr>
                        <a:t>InfoVQA</a:t>
                      </a:r>
                      <a:r>
                        <a:rPr lang="en-GB" sz="12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GB" sz="1200" b="0" dirty="0">
                          <a:effectLst/>
                        </a:rPr>
                        <a:t>training set sampling</a:t>
                      </a:r>
                      <a:endParaRPr lang="zh-TW" altLang="en-US" sz="1200" b="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ANLS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433050062"/>
                  </a:ext>
                </a:extLst>
              </a:tr>
              <a:tr h="404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Calibration</a:t>
                      </a:r>
                      <a:endParaRPr lang="zh-TW" altLang="en-US" sz="12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6"/>
                          </a:solidFill>
                          <a:effectLst/>
                        </a:rPr>
                        <a:t>MME-</a:t>
                      </a:r>
                      <a:r>
                        <a:rPr lang="en-GB" sz="1200" b="1" dirty="0" err="1">
                          <a:solidFill>
                            <a:schemeClr val="accent6"/>
                          </a:solidFill>
                          <a:effectLst/>
                        </a:rPr>
                        <a:t>RealWorld</a:t>
                      </a:r>
                      <a:r>
                        <a:rPr lang="en-GB" sz="1200" dirty="0">
                          <a:effectLst/>
                        </a:rPr>
                        <a:t> </a:t>
                      </a:r>
                      <a:r>
                        <a:rPr lang="en-GB" altLang="zh-TW" sz="1200" dirty="0">
                          <a:effectLst/>
                        </a:rPr>
                        <a:t>excluding </a:t>
                      </a:r>
                      <a:r>
                        <a:rPr lang="en-GB" sz="1200" b="0" dirty="0">
                          <a:effectLst/>
                        </a:rPr>
                        <a:t>Lite</a:t>
                      </a:r>
                      <a:endParaRPr lang="en-US" altLang="zh-TW" sz="1200" b="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altLang="zh-TW" sz="1200" dirty="0">
                          <a:effectLst/>
                        </a:rPr>
                        <a:t>(5 subtasks × 120 questions)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accuracy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394329254"/>
                  </a:ext>
                </a:extLst>
              </a:tr>
              <a:tr h="251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>
                          <a:effectLst/>
                        </a:rPr>
                        <a:t>Test</a:t>
                      </a:r>
                      <a:endParaRPr lang="zh-TW" altLang="en-US" sz="12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rgbClr val="0070C0"/>
                          </a:solidFill>
                          <a:effectLst/>
                        </a:rPr>
                        <a:t>DocVQA val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5,349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ANLS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089613968"/>
                  </a:ext>
                </a:extLst>
              </a:tr>
              <a:tr h="305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>
                          <a:effectLst/>
                        </a:rPr>
                        <a:t>Test</a:t>
                      </a:r>
                      <a:endParaRPr lang="zh-TW" altLang="en-US" sz="12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rgbClr val="0070C0"/>
                          </a:solidFill>
                          <a:effectLst/>
                        </a:rPr>
                        <a:t>InfoVQA val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2,801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ANLS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323924612"/>
                  </a:ext>
                </a:extLst>
              </a:tr>
              <a:tr h="277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>
                          <a:effectLst/>
                        </a:rPr>
                        <a:t>Test</a:t>
                      </a:r>
                      <a:endParaRPr lang="zh-TW" altLang="en-US" sz="12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rgbClr val="0070C0"/>
                          </a:solidFill>
                          <a:effectLst/>
                        </a:rPr>
                        <a:t>HR-Bench 4K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effectLst/>
                        </a:rPr>
                        <a:t>800 (200 set)</a:t>
                      </a:r>
                      <a:endParaRPr lang="zh-TW" altLang="en-US" sz="12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 err="1">
                          <a:effectLst/>
                        </a:rPr>
                        <a:t>CircularEval</a:t>
                      </a:r>
                      <a:endParaRPr lang="en-GB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094967796"/>
                  </a:ext>
                </a:extLst>
              </a:tr>
              <a:tr h="259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>
                          <a:effectLst/>
                        </a:rPr>
                        <a:t>Test</a:t>
                      </a:r>
                      <a:endParaRPr lang="zh-TW" altLang="en-US" sz="12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rgbClr val="0070C0"/>
                          </a:solidFill>
                          <a:effectLst/>
                        </a:rPr>
                        <a:t>MME-</a:t>
                      </a:r>
                      <a:r>
                        <a:rPr lang="en-GB" sz="1200" b="1" err="1">
                          <a:solidFill>
                            <a:srgbClr val="0070C0"/>
                          </a:solidFill>
                          <a:effectLst/>
                        </a:rPr>
                        <a:t>RealWorld</a:t>
                      </a:r>
                      <a:r>
                        <a:rPr lang="en-GB" sz="1200" b="1">
                          <a:solidFill>
                            <a:srgbClr val="0070C0"/>
                          </a:solidFill>
                          <a:effectLst/>
                        </a:rPr>
                        <a:t> Lite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1,919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accuracy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25127278"/>
                  </a:ext>
                </a:extLst>
              </a:tr>
              <a:tr h="253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dirty="0">
                          <a:effectLst/>
                        </a:rPr>
                        <a:t>Test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rgbClr val="0070C0"/>
                          </a:solidFill>
                          <a:effectLst/>
                        </a:rPr>
                        <a:t>V* Bench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191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accuracy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62463469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919A68-2742-303E-E07C-22DA65DF6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45548"/>
              </p:ext>
            </p:extLst>
          </p:nvPr>
        </p:nvGraphicFramePr>
        <p:xfrm>
          <a:off x="1346028" y="4313963"/>
          <a:ext cx="4051645" cy="132512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944563">
                  <a:extLst>
                    <a:ext uri="{9D8B030D-6E8A-4147-A177-3AD203B41FA5}">
                      <a16:colId xmlns:a16="http://schemas.microsoft.com/office/drawing/2014/main" val="84403367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894814187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508276669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1921002273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306733926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985909725"/>
                    </a:ext>
                  </a:extLst>
                </a:gridCol>
                <a:gridCol w="503582">
                  <a:extLst>
                    <a:ext uri="{9D8B030D-6E8A-4147-A177-3AD203B41FA5}">
                      <a16:colId xmlns:a16="http://schemas.microsoft.com/office/drawing/2014/main" val="729251370"/>
                    </a:ext>
                  </a:extLst>
                </a:gridCol>
              </a:tblGrid>
              <a:tr h="298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 dirty="0">
                          <a:effectLst/>
                        </a:rPr>
                        <a:t>m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 dirty="0">
                          <a:effectLst/>
                        </a:rPr>
                        <a:t>b1024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 dirty="0">
                          <a:effectLst/>
                        </a:rPr>
                        <a:t>b1536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>
                          <a:effectLst/>
                        </a:rPr>
                        <a:t>b2048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>
                          <a:effectLst/>
                        </a:rPr>
                        <a:t>b2560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>
                          <a:effectLst/>
                        </a:rPr>
                        <a:t>b3072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b="1" dirty="0">
                          <a:effectLst/>
                        </a:rPr>
                        <a:t>Avg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705573819"/>
                  </a:ext>
                </a:extLst>
              </a:tr>
              <a:tr h="260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m=1(old)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57.9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61.2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63.9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65.2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68.4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63.3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571274097"/>
                  </a:ext>
                </a:extLst>
              </a:tr>
              <a:tr h="29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effectLst/>
                        </a:rPr>
                        <a:t>m/K=0.5</a:t>
                      </a:r>
                      <a:endParaRPr lang="en-GB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63.9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68.4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68.8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70.7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71.0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 dirty="0">
                          <a:effectLst/>
                        </a:rPr>
                        <a:t>68.5</a:t>
                      </a:r>
                      <a:endParaRPr lang="en-GB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913792129"/>
                  </a:ext>
                </a:extLst>
              </a:tr>
              <a:tr h="25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m/K=0.75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65.2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67.6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68.3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70.0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70.9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68.4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443211455"/>
                  </a:ext>
                </a:extLst>
              </a:tr>
              <a:tr h="222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m=K(cover)</a:t>
                      </a:r>
                      <a:endParaRPr lang="zh-TW" altLang="en-US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63.5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68.8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69.1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70.1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71.8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68.6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5358320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70E02A-9140-B1C8-3F03-2C5DE8765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402547"/>
              </p:ext>
            </p:extLst>
          </p:nvPr>
        </p:nvGraphicFramePr>
        <p:xfrm>
          <a:off x="5871179" y="4313963"/>
          <a:ext cx="5055704" cy="189303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688238">
                  <a:extLst>
                    <a:ext uri="{9D8B030D-6E8A-4147-A177-3AD203B41FA5}">
                      <a16:colId xmlns:a16="http://schemas.microsoft.com/office/drawing/2014/main" val="3211731696"/>
                    </a:ext>
                  </a:extLst>
                </a:gridCol>
                <a:gridCol w="2013259">
                  <a:extLst>
                    <a:ext uri="{9D8B030D-6E8A-4147-A177-3AD203B41FA5}">
                      <a16:colId xmlns:a16="http://schemas.microsoft.com/office/drawing/2014/main" val="3953844118"/>
                    </a:ext>
                  </a:extLst>
                </a:gridCol>
                <a:gridCol w="2354207">
                  <a:extLst>
                    <a:ext uri="{9D8B030D-6E8A-4147-A177-3AD203B41FA5}">
                      <a16:colId xmlns:a16="http://schemas.microsoft.com/office/drawing/2014/main" val="1093248476"/>
                    </a:ext>
                  </a:extLst>
                </a:gridCol>
              </a:tblGrid>
              <a:tr h="6322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 dirty="0">
                          <a:effectLst/>
                        </a:rPr>
                        <a:t>budget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200" b="1" dirty="0">
                          <a:effectLst/>
                        </a:rPr>
                        <a:t>m/K=0.5</a:t>
                      </a:r>
                    </a:p>
                    <a:p>
                      <a:pPr>
                        <a:buNone/>
                      </a:pPr>
                      <a:r>
                        <a:rPr lang="en-GB" altLang="zh-TW" sz="1200" dirty="0" err="1">
                          <a:effectLst/>
                        </a:rPr>
                        <a:t>Avg</a:t>
                      </a:r>
                      <a:r>
                        <a:rPr lang="en-GB" altLang="zh-TW" sz="1200" dirty="0">
                          <a:effectLst/>
                        </a:rPr>
                        <a:t> Retention Rate</a:t>
                      </a:r>
                      <a:r>
                        <a:rPr lang="zh-TW" altLang="en-US" sz="1200" dirty="0">
                          <a:effectLst/>
                        </a:rPr>
                        <a:t> </a:t>
                      </a:r>
                      <a:r>
                        <a:rPr lang="en-US" altLang="zh-TW" sz="1200" dirty="0">
                          <a:effectLst/>
                        </a:rPr>
                        <a:t>/ </a:t>
                      </a:r>
                    </a:p>
                    <a:p>
                      <a:pPr>
                        <a:buNone/>
                      </a:pPr>
                      <a:r>
                        <a:rPr lang="en-GB" altLang="zh-TW" sz="1200" dirty="0">
                          <a:effectLst/>
                        </a:rPr>
                        <a:t>Worst-Performing</a:t>
                      </a:r>
                      <a:r>
                        <a:rPr lang="zh-TW" altLang="en-US" sz="1200" dirty="0">
                          <a:effectLst/>
                        </a:rPr>
                        <a:t> </a:t>
                      </a:r>
                      <a:r>
                        <a:rPr lang="en-US" altLang="zh-TW" sz="1200" dirty="0">
                          <a:effectLst/>
                        </a:rPr>
                        <a:t>/ </a:t>
                      </a:r>
                      <a:r>
                        <a:rPr lang="en-GB" sz="1200" dirty="0">
                          <a:effectLst/>
                        </a:rPr>
                        <a:t>TTFT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effectLst/>
                        </a:rPr>
                        <a:t>m=K</a:t>
                      </a:r>
                    </a:p>
                    <a:p>
                      <a:pPr>
                        <a:buNone/>
                      </a:pPr>
                      <a:r>
                        <a:rPr lang="en-GB" altLang="zh-TW" sz="1200" dirty="0" err="1">
                          <a:effectLst/>
                        </a:rPr>
                        <a:t>Avg</a:t>
                      </a:r>
                      <a:r>
                        <a:rPr lang="en-GB" altLang="zh-TW" sz="1200" dirty="0">
                          <a:effectLst/>
                        </a:rPr>
                        <a:t> Retention Rate</a:t>
                      </a:r>
                      <a:r>
                        <a:rPr lang="zh-TW" altLang="en-US" sz="1200" dirty="0">
                          <a:effectLst/>
                        </a:rPr>
                        <a:t> </a:t>
                      </a:r>
                      <a:r>
                        <a:rPr lang="en-US" altLang="zh-TW" sz="1200" dirty="0">
                          <a:effectLst/>
                        </a:rPr>
                        <a:t>/ </a:t>
                      </a:r>
                    </a:p>
                    <a:p>
                      <a:pPr>
                        <a:buNone/>
                      </a:pPr>
                      <a:r>
                        <a:rPr lang="en-GB" altLang="zh-TW" sz="1200" dirty="0">
                          <a:effectLst/>
                        </a:rPr>
                        <a:t>Worst-Performing</a:t>
                      </a:r>
                      <a:r>
                        <a:rPr lang="zh-TW" altLang="en-US" sz="1200" dirty="0">
                          <a:effectLst/>
                        </a:rPr>
                        <a:t> </a:t>
                      </a:r>
                      <a:r>
                        <a:rPr lang="en-US" altLang="zh-TW" sz="1200" dirty="0">
                          <a:effectLst/>
                        </a:rPr>
                        <a:t>/ </a:t>
                      </a:r>
                      <a:r>
                        <a:rPr lang="en-GB" sz="1200" dirty="0">
                          <a:effectLst/>
                        </a:rPr>
                        <a:t>TTFT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039767738"/>
                  </a:ext>
                </a:extLst>
              </a:tr>
              <a:tr h="252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b1024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89.7% / 76% / 0.90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88.5% / 80% / 0.40 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98715254"/>
                  </a:ext>
                </a:extLst>
              </a:tr>
              <a:tr h="252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 dirty="0">
                          <a:effectLst/>
                        </a:rPr>
                        <a:t>b1536</a:t>
                      </a:r>
                      <a:endParaRPr lang="en-GB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effectLst/>
                        </a:rPr>
                        <a:t>95.7% / 85% / 0.77 s</a:t>
                      </a:r>
                      <a:endParaRPr lang="en-GB" sz="12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96.2% / 86% / 0.45 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524601905"/>
                  </a:ext>
                </a:extLst>
              </a:tr>
              <a:tr h="252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b2048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95.9% / 85% / 1.08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96.0% / 74% / 0.56 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9836146"/>
                  </a:ext>
                </a:extLst>
              </a:tr>
              <a:tr h="252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>
                          <a:effectLst/>
                        </a:rPr>
                        <a:t>b2560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98.9% / 94% / 1.19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97.7% / 69% / 0.69 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56266664"/>
                  </a:ext>
                </a:extLst>
              </a:tr>
              <a:tr h="2521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>
                          <a:effectLst/>
                        </a:rPr>
                        <a:t>b3072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99.3% / 86% / 1.41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100.1% / 78% / 0.80 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782974456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5156ACAC-C9FD-182A-D815-BB5E2A2F9512}"/>
              </a:ext>
            </a:extLst>
          </p:cNvPr>
          <p:cNvGrpSpPr/>
          <p:nvPr/>
        </p:nvGrpSpPr>
        <p:grpSpPr>
          <a:xfrm>
            <a:off x="8524926" y="2427892"/>
            <a:ext cx="3349022" cy="1351721"/>
            <a:chOff x="8399031" y="2339009"/>
            <a:chExt cx="3349022" cy="1351721"/>
          </a:xfrm>
        </p:grpSpPr>
        <p:sp>
          <p:nvSpPr>
            <p:cNvPr id="8" name="Rounded Rectangular Callout 7">
              <a:extLst>
                <a:ext uri="{FF2B5EF4-FFF2-40B4-BE49-F238E27FC236}">
                  <a16:creationId xmlns:a16="http://schemas.microsoft.com/office/drawing/2014/main" id="{FA02A36F-3AAA-70E1-5B80-684C12C2E5B2}"/>
                </a:ext>
              </a:extLst>
            </p:cNvPr>
            <p:cNvSpPr/>
            <p:nvPr/>
          </p:nvSpPr>
          <p:spPr>
            <a:xfrm>
              <a:off x="8399031" y="2339009"/>
              <a:ext cx="3282760" cy="1351721"/>
            </a:xfrm>
            <a:prstGeom prst="wedgeRoundRectCallout">
              <a:avLst>
                <a:gd name="adj1" fmla="val -45054"/>
                <a:gd name="adj2" fmla="val 65765"/>
                <a:gd name="adj3" fmla="val 16667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D24ACF-7538-1D62-119B-69551529ED7F}"/>
                </a:ext>
              </a:extLst>
            </p:cNvPr>
            <p:cNvSpPr txBox="1"/>
            <p:nvPr/>
          </p:nvSpPr>
          <p:spPr>
            <a:xfrm>
              <a:off x="8465293" y="2477128"/>
              <a:ext cx="328276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Default Setting: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b="1" dirty="0"/>
                <a:t>m</a:t>
              </a:r>
              <a:r>
                <a:rPr lang="en-US" sz="1200" dirty="0"/>
                <a:t> (number of tiles covered) = </a:t>
              </a:r>
              <a:r>
                <a:rPr lang="en-US" sz="1200" b="1" dirty="0">
                  <a:solidFill>
                    <a:schemeClr val="accent1"/>
                  </a:solidFill>
                </a:rPr>
                <a:t>⌊k/2⌋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b="1" dirty="0"/>
                <a:t>S</a:t>
              </a:r>
              <a:r>
                <a:rPr lang="en-US" sz="1200" dirty="0"/>
                <a:t> (Rating Window) = </a:t>
              </a:r>
              <a:r>
                <a:rPr lang="en-US" sz="1200" b="1" dirty="0">
                  <a:solidFill>
                    <a:schemeClr val="accent1"/>
                  </a:solidFill>
                </a:rPr>
                <a:t>{1024: 5, 1536: 4, 2048: 4, 2560: 3, 3072: 3}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b="1" dirty="0"/>
                <a:t>budget</a:t>
              </a:r>
              <a:r>
                <a:rPr lang="en-US" sz="1200" dirty="0"/>
                <a:t> = </a:t>
              </a:r>
              <a:r>
                <a:rPr lang="en-US" sz="1200" b="1" dirty="0">
                  <a:solidFill>
                    <a:schemeClr val="accent1"/>
                  </a:solidFill>
                </a:rPr>
                <a:t>1536 (K=6, m=3, S=4)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869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7F63-149E-CE21-128C-4E1252EE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3B5FA7-1ABD-88F6-0281-1259276A3F80}"/>
              </a:ext>
            </a:extLst>
          </p:cNvPr>
          <p:cNvSpPr txBox="1">
            <a:spLocks/>
          </p:cNvSpPr>
          <p:nvPr/>
        </p:nvSpPr>
        <p:spPr>
          <a:xfrm>
            <a:off x="1763472" y="651003"/>
            <a:ext cx="9361728" cy="535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b="1" dirty="0" err="1">
                <a:solidFill>
                  <a:schemeClr val="accent1"/>
                </a:solidFill>
              </a:rPr>
              <a:t>FoveaTile</a:t>
            </a:r>
            <a:r>
              <a:rPr lang="en-GB" sz="2200" b="1" dirty="0">
                <a:solidFill>
                  <a:schemeClr val="accent1"/>
                </a:solidFill>
              </a:rPr>
              <a:t>: </a:t>
            </a:r>
            <a:r>
              <a:rPr lang="en-GB" sz="2200" dirty="0"/>
              <a:t>Test set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CE664D-3522-5215-C6B2-A8891AAD2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472" y="1386262"/>
            <a:ext cx="7997375" cy="476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6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CE64-CA66-A738-F08C-C123FD42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0C978F-86F7-04AE-6CEA-5461504CD1EE}"/>
              </a:ext>
            </a:extLst>
          </p:cNvPr>
          <p:cNvSpPr txBox="1">
            <a:spLocks/>
          </p:cNvSpPr>
          <p:nvPr/>
        </p:nvSpPr>
        <p:spPr>
          <a:xfrm>
            <a:off x="1763472" y="651003"/>
            <a:ext cx="9361728" cy="535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b="1" dirty="0" err="1">
                <a:solidFill>
                  <a:schemeClr val="accent1"/>
                </a:solidFill>
              </a:rPr>
              <a:t>FoveaTile</a:t>
            </a:r>
            <a:r>
              <a:rPr lang="en-GB" sz="2200" b="1" dirty="0">
                <a:solidFill>
                  <a:schemeClr val="accent1"/>
                </a:solidFill>
              </a:rPr>
              <a:t>: </a:t>
            </a:r>
            <a:r>
              <a:rPr lang="en-GB" sz="2200" dirty="0"/>
              <a:t>Test set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D90A-3718-7A38-37D1-4D9D9E85D107}"/>
              </a:ext>
            </a:extLst>
          </p:cNvPr>
          <p:cNvSpPr txBox="1">
            <a:spLocks/>
          </p:cNvSpPr>
          <p:nvPr/>
        </p:nvSpPr>
        <p:spPr>
          <a:xfrm>
            <a:off x="1763472" y="1186069"/>
            <a:ext cx="9063554" cy="1033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Average retention rate, TTFT, and memory variation across 5 datasets</a:t>
            </a:r>
          </a:p>
          <a:p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At point </a:t>
            </a:r>
            <a:r>
              <a:rPr lang="en-GB" sz="1400" b="1" dirty="0">
                <a:solidFill>
                  <a:schemeClr val="accent1"/>
                </a:solidFill>
              </a:rPr>
              <a:t>b1536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GB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FoveaTile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uses </a:t>
            </a:r>
            <a:r>
              <a:rPr lang="en-GB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0.41 GB (95.0%) 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and IF-Prune uses 2.95 GB (94.9%):</a:t>
            </a:r>
          </a:p>
          <a:p>
            <a:pPr lvl="1"/>
            <a:r>
              <a:rPr lang="en-GB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retention rates are nearly identical, while the memory footprint is only about 1/7 as large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961A1-1BF4-A273-1A16-26E834659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038" y="2462954"/>
            <a:ext cx="8927924" cy="361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1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23DDE-BC3F-0879-3F08-59DE8C6C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5630D9-546A-B188-716C-A8CD49616D62}"/>
              </a:ext>
            </a:extLst>
          </p:cNvPr>
          <p:cNvSpPr txBox="1">
            <a:spLocks/>
          </p:cNvSpPr>
          <p:nvPr/>
        </p:nvSpPr>
        <p:spPr>
          <a:xfrm>
            <a:off x="1763472" y="651003"/>
            <a:ext cx="9361728" cy="535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b="1" dirty="0" err="1">
                <a:solidFill>
                  <a:schemeClr val="accent1"/>
                </a:solidFill>
              </a:rPr>
              <a:t>FoveaTile</a:t>
            </a:r>
            <a:r>
              <a:rPr lang="en-GB" sz="2200" b="1" dirty="0">
                <a:solidFill>
                  <a:schemeClr val="accent1"/>
                </a:solidFill>
              </a:rPr>
              <a:t>: </a:t>
            </a:r>
            <a:r>
              <a:rPr lang="en-GB" sz="2200" dirty="0"/>
              <a:t>Test set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58120-A9F8-267B-FDB9-7D5979DAA88B}"/>
              </a:ext>
            </a:extLst>
          </p:cNvPr>
          <p:cNvSpPr txBox="1">
            <a:spLocks/>
          </p:cNvSpPr>
          <p:nvPr/>
        </p:nvSpPr>
        <p:spPr>
          <a:xfrm>
            <a:off x="1851837" y="1239080"/>
            <a:ext cx="3636789" cy="2981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table for preset point </a:t>
            </a:r>
            <a:r>
              <a:rPr lang="en-GB" sz="1400" b="1" dirty="0">
                <a:solidFill>
                  <a:schemeClr val="accent1"/>
                </a:solidFill>
              </a:rPr>
              <a:t>b1536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A0CA47-FEEA-8ECA-6014-A04833FD4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662623"/>
              </p:ext>
            </p:extLst>
          </p:nvPr>
        </p:nvGraphicFramePr>
        <p:xfrm>
          <a:off x="1851837" y="1563758"/>
          <a:ext cx="8040697" cy="1814493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76338">
                  <a:extLst>
                    <a:ext uri="{9D8B030D-6E8A-4147-A177-3AD203B41FA5}">
                      <a16:colId xmlns:a16="http://schemas.microsoft.com/office/drawing/2014/main" val="354264945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446009935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3851168397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38332437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346835035"/>
                    </a:ext>
                  </a:extLst>
                </a:gridCol>
                <a:gridCol w="1441459">
                  <a:extLst>
                    <a:ext uri="{9D8B030D-6E8A-4147-A177-3AD203B41FA5}">
                      <a16:colId xmlns:a16="http://schemas.microsoft.com/office/drawing/2014/main" val="4152003171"/>
                    </a:ext>
                  </a:extLst>
                </a:gridCol>
              </a:tblGrid>
              <a:tr h="31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200" b="1" dirty="0">
                          <a:effectLst/>
                        </a:rPr>
                        <a:t>Method</a:t>
                      </a:r>
                      <a:endParaRPr lang="zh-TW" altLang="en-US" sz="1200" b="1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DocVQA</a:t>
                      </a:r>
                      <a:r>
                        <a:rPr lang="en-GB" sz="1200" dirty="0">
                          <a:effectLst/>
                        </a:rPr>
                        <a:t> (ANLS)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 err="1">
                          <a:effectLst/>
                        </a:rPr>
                        <a:t>InfoVQA</a:t>
                      </a:r>
                      <a:r>
                        <a:rPr lang="en-GB" sz="1200" dirty="0">
                          <a:effectLst/>
                        </a:rPr>
                        <a:t> (ANLS)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HR-4 (</a:t>
                      </a:r>
                      <a:r>
                        <a:rPr lang="en-GB" sz="1200" dirty="0" err="1">
                          <a:effectLst/>
                        </a:rPr>
                        <a:t>CircularEval</a:t>
                      </a:r>
                      <a:r>
                        <a:rPr lang="en-GB" sz="1200" dirty="0">
                          <a:effectLst/>
                        </a:rPr>
                        <a:t>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MME-RW Lite (</a:t>
                      </a:r>
                      <a:r>
                        <a:rPr lang="en-GB" sz="1200" dirty="0" err="1">
                          <a:effectLst/>
                        </a:rPr>
                        <a:t>acc</a:t>
                      </a:r>
                      <a:r>
                        <a:rPr lang="en-GB" sz="1200" dirty="0">
                          <a:effectLst/>
                        </a:rPr>
                        <a:t>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V* Bench (</a:t>
                      </a:r>
                      <a:r>
                        <a:rPr lang="en-GB" sz="1200" dirty="0" err="1">
                          <a:effectLst/>
                        </a:rPr>
                        <a:t>acc</a:t>
                      </a:r>
                      <a:r>
                        <a:rPr lang="en-GB" sz="1200" dirty="0">
                          <a:effectLst/>
                        </a:rPr>
                        <a:t>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702875108"/>
                  </a:ext>
                </a:extLst>
              </a:tr>
              <a:tr h="2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uncompressed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91.41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78.73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62.00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51.59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83.77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82342026"/>
                  </a:ext>
                </a:extLst>
              </a:tr>
              <a:tr h="2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 err="1">
                          <a:solidFill>
                            <a:schemeClr val="accent1"/>
                          </a:solidFill>
                          <a:effectLst/>
                        </a:rPr>
                        <a:t>FoveaTile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1"/>
                          </a:solidFill>
                          <a:effectLst/>
                        </a:rPr>
                        <a:t>87.02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1"/>
                          </a:solidFill>
                          <a:effectLst/>
                        </a:rPr>
                        <a:t>74.82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1"/>
                          </a:solidFill>
                          <a:effectLst/>
                        </a:rPr>
                        <a:t>56.50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chemeClr val="accent1"/>
                          </a:solidFill>
                          <a:effectLst/>
                        </a:rPr>
                        <a:t>52.06</a:t>
                      </a:r>
                      <a:endParaRPr lang="en-GB" sz="12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1"/>
                          </a:solidFill>
                          <a:effectLst/>
                        </a:rPr>
                        <a:t>77.49</a:t>
                      </a:r>
                      <a:endParaRPr lang="en-GB" sz="12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16815186"/>
                  </a:ext>
                </a:extLst>
              </a:tr>
              <a:tr h="2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IF-Prune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88.17 ▼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72.68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57.50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49.30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81.68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01271764"/>
                  </a:ext>
                </a:extLst>
              </a:tr>
              <a:tr h="2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FastV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84.01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60.96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59.00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46.90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79.06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23615036"/>
                  </a:ext>
                </a:extLst>
              </a:tr>
              <a:tr h="2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SparseVLM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55.08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62.24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59.50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50.23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79.58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64114413"/>
                  </a:ext>
                </a:extLst>
              </a:tr>
              <a:tr h="249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VisionZip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48.69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47.58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49.00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41.74 ▲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70.16 ▲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94876772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DD03EF-3C90-77D4-B3B1-9A201F50474A}"/>
              </a:ext>
            </a:extLst>
          </p:cNvPr>
          <p:cNvSpPr txBox="1">
            <a:spLocks/>
          </p:cNvSpPr>
          <p:nvPr/>
        </p:nvSpPr>
        <p:spPr>
          <a:xfrm>
            <a:off x="1851836" y="3786807"/>
            <a:ext cx="8040697" cy="2981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Cost comparison at a </a:t>
            </a:r>
            <a:r>
              <a:rPr lang="en-GB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fixed accuracy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level (retention rate </a:t>
            </a:r>
            <a:r>
              <a:rPr lang="en-GB" sz="1400" b="1" dirty="0">
                <a:solidFill>
                  <a:schemeClr val="accent1"/>
                </a:solidFill>
              </a:rPr>
              <a:t>~ 95%</a:t>
            </a:r>
            <a:r>
              <a:rPr lang="en-GB" sz="1400" dirty="0">
                <a:solidFill>
                  <a:schemeClr val="tx1"/>
                </a:solidFill>
              </a:rPr>
              <a:t>)</a:t>
            </a:r>
            <a:endParaRPr lang="en-GB" sz="1400" b="1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FCC063-3B63-F5BB-47B7-59507DBA2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624785"/>
              </p:ext>
            </p:extLst>
          </p:nvPr>
        </p:nvGraphicFramePr>
        <p:xfrm>
          <a:off x="1851836" y="4115075"/>
          <a:ext cx="8022279" cy="227246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73188">
                  <a:extLst>
                    <a:ext uri="{9D8B030D-6E8A-4147-A177-3AD203B41FA5}">
                      <a16:colId xmlns:a16="http://schemas.microsoft.com/office/drawing/2014/main" val="3075561773"/>
                    </a:ext>
                  </a:extLst>
                </a:gridCol>
                <a:gridCol w="2037740">
                  <a:extLst>
                    <a:ext uri="{9D8B030D-6E8A-4147-A177-3AD203B41FA5}">
                      <a16:colId xmlns:a16="http://schemas.microsoft.com/office/drawing/2014/main" val="84169842"/>
                    </a:ext>
                  </a:extLst>
                </a:gridCol>
                <a:gridCol w="2082225">
                  <a:extLst>
                    <a:ext uri="{9D8B030D-6E8A-4147-A177-3AD203B41FA5}">
                      <a16:colId xmlns:a16="http://schemas.microsoft.com/office/drawing/2014/main" val="3430061156"/>
                    </a:ext>
                  </a:extLst>
                </a:gridCol>
                <a:gridCol w="886070">
                  <a:extLst>
                    <a:ext uri="{9D8B030D-6E8A-4147-A177-3AD203B41FA5}">
                      <a16:colId xmlns:a16="http://schemas.microsoft.com/office/drawing/2014/main" val="1258410681"/>
                    </a:ext>
                  </a:extLst>
                </a:gridCol>
                <a:gridCol w="1643056">
                  <a:extLst>
                    <a:ext uri="{9D8B030D-6E8A-4147-A177-3AD203B41FA5}">
                      <a16:colId xmlns:a16="http://schemas.microsoft.com/office/drawing/2014/main" val="2418150627"/>
                    </a:ext>
                  </a:extLst>
                </a:gridCol>
              </a:tblGrid>
              <a:tr h="26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b="1" dirty="0">
                          <a:effectLst/>
                        </a:rPr>
                        <a:t>Method</a:t>
                      </a:r>
                      <a:endParaRPr lang="zh-TW" altLang="en-US" sz="1400" b="1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zh-TW" sz="1400" b="1" dirty="0">
                          <a:effectLst/>
                        </a:rPr>
                        <a:t>Required</a:t>
                      </a:r>
                      <a:r>
                        <a:rPr lang="zh-TW" altLang="en-US" sz="1400" b="1" dirty="0">
                          <a:effectLst/>
                        </a:rPr>
                        <a:t> </a:t>
                      </a:r>
                      <a:r>
                        <a:rPr lang="en-GB" sz="1400" b="1" dirty="0">
                          <a:effectLst/>
                        </a:rPr>
                        <a:t>budget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Actual retention rate </a:t>
                      </a:r>
                      <a:endParaRPr lang="zh-TW" altLang="en-US" sz="1400" b="1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effectLst/>
                        </a:rPr>
                        <a:t>TTFT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zh-TW" sz="1400" b="1" dirty="0">
                          <a:effectLst/>
                        </a:rPr>
                        <a:t>Memory Increase</a:t>
                      </a:r>
                      <a:endParaRPr lang="zh-TW" altLang="en-US" sz="1400" b="1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183994039"/>
                  </a:ext>
                </a:extLst>
              </a:tr>
              <a:tr h="26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 err="1">
                          <a:solidFill>
                            <a:schemeClr val="accent1"/>
                          </a:solidFill>
                          <a:effectLst/>
                        </a:rPr>
                        <a:t>FoveaTile</a:t>
                      </a:r>
                      <a:endParaRPr lang="en-GB" sz="14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b1536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95.0%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  <a:effectLst/>
                        </a:rPr>
                        <a:t>0.72 s</a:t>
                      </a:r>
                      <a:endParaRPr lang="en-GB" sz="14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  <a:effectLst/>
                        </a:rPr>
                        <a:t>0.41 GB</a:t>
                      </a:r>
                      <a:endParaRPr lang="en-GB" sz="14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06223809"/>
                  </a:ext>
                </a:extLst>
              </a:tr>
              <a:tr h="26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IF-Prune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b1536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94.9%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1.18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2.95 GB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610928468"/>
                  </a:ext>
                </a:extLst>
              </a:tr>
              <a:tr h="26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FastV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b2560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95.5%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0.85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1.35 GB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87225619"/>
                  </a:ext>
                </a:extLst>
              </a:tr>
              <a:tr h="482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SparseVLM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zh-TW" sz="1400" dirty="0">
                          <a:effectLst/>
                        </a:rPr>
                        <a:t>Not reached</a:t>
                      </a:r>
                    </a:p>
                    <a:p>
                      <a:pPr>
                        <a:buNone/>
                      </a:pPr>
                      <a:r>
                        <a:rPr lang="en-GB" altLang="zh-TW" sz="1400" dirty="0">
                          <a:effectLst/>
                        </a:rPr>
                        <a:t>(max 91.8% @ b3072)</a:t>
                      </a:r>
                      <a:endParaRPr lang="en-GB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91.8%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1.16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1.55 GB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683659802"/>
                  </a:ext>
                </a:extLst>
              </a:tr>
              <a:tr h="482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VisionZip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zh-TW" sz="1400" dirty="0">
                          <a:effectLst/>
                        </a:rPr>
                        <a:t>Not reached</a:t>
                      </a:r>
                    </a:p>
                    <a:p>
                      <a:pPr>
                        <a:buNone/>
                      </a:pPr>
                      <a:r>
                        <a:rPr lang="en-US" altLang="zh-TW" sz="1400" dirty="0">
                          <a:effectLst/>
                        </a:rPr>
                        <a:t>(</a:t>
                      </a:r>
                      <a:r>
                        <a:rPr lang="en-GB" altLang="zh-TW" sz="1400" dirty="0">
                          <a:effectLst/>
                        </a:rPr>
                        <a:t>max</a:t>
                      </a:r>
                      <a:r>
                        <a:rPr lang="zh-TW" altLang="en-US" sz="1400" dirty="0">
                          <a:effectLst/>
                        </a:rPr>
                        <a:t> </a:t>
                      </a:r>
                      <a:r>
                        <a:rPr lang="en-US" altLang="zh-TW" sz="1400" dirty="0">
                          <a:effectLst/>
                        </a:rPr>
                        <a:t>86.1% @ </a:t>
                      </a:r>
                      <a:r>
                        <a:rPr lang="en-GB" sz="1400" dirty="0">
                          <a:effectLst/>
                        </a:rPr>
                        <a:t>b3072)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86.1%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0.91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0.86 GB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680292901"/>
                  </a:ext>
                </a:extLst>
              </a:tr>
              <a:tr h="26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Uncompressed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 ---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100%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1.74 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effectLst/>
                        </a:rPr>
                        <a:t>2.05 GB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822708807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AC25BE3D-4DC0-6DDA-D681-3F1422E89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2435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59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7E6BB-55E8-925C-5B84-C284DAD4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845E06-A37E-B43B-969F-B89BF3FD3A51}"/>
              </a:ext>
            </a:extLst>
          </p:cNvPr>
          <p:cNvSpPr txBox="1">
            <a:spLocks/>
          </p:cNvSpPr>
          <p:nvPr/>
        </p:nvSpPr>
        <p:spPr>
          <a:xfrm>
            <a:off x="1763472" y="651003"/>
            <a:ext cx="9361728" cy="535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200" b="1" dirty="0" err="1">
                <a:solidFill>
                  <a:schemeClr val="accent1"/>
                </a:solidFill>
              </a:rPr>
              <a:t>FoveaTile</a:t>
            </a:r>
            <a:r>
              <a:rPr lang="en-GB" sz="2200" b="1" dirty="0">
                <a:solidFill>
                  <a:schemeClr val="accent1"/>
                </a:solidFill>
              </a:rPr>
              <a:t>: </a:t>
            </a:r>
            <a:r>
              <a:rPr lang="en-GB" sz="2200" dirty="0"/>
              <a:t>Test set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9D076-55CE-A0AA-D890-A29FDDF98AE9}"/>
              </a:ext>
            </a:extLst>
          </p:cNvPr>
          <p:cNvSpPr txBox="1">
            <a:spLocks/>
          </p:cNvSpPr>
          <p:nvPr/>
        </p:nvSpPr>
        <p:spPr>
          <a:xfrm>
            <a:off x="1763472" y="1186069"/>
            <a:ext cx="9063554" cy="1033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en-GB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inference cost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of </a:t>
            </a:r>
            <a:r>
              <a:rPr lang="en-GB" sz="1400" b="1" dirty="0" err="1">
                <a:solidFill>
                  <a:schemeClr val="accent1"/>
                </a:solidFill>
              </a:rPr>
              <a:t>FoveaTile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is independent of the input resolution</a:t>
            </a:r>
          </a:p>
          <a:p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contrast, other methods compress tokens that have already been computed; consequently, the cost still increases as the image size grows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19CA02-CD23-7D34-F8F9-20CFDB30D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898" y="2756307"/>
            <a:ext cx="8502203" cy="326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95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39482B-B008-5029-4166-0D9BEAA2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29D0-6C2B-A964-4204-AC0616D05D38}"/>
              </a:ext>
            </a:extLst>
          </p:cNvPr>
          <p:cNvSpPr txBox="1">
            <a:spLocks/>
          </p:cNvSpPr>
          <p:nvPr/>
        </p:nvSpPr>
        <p:spPr>
          <a:xfrm>
            <a:off x="1763472" y="651004"/>
            <a:ext cx="9659384" cy="56122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err="1"/>
              <a:t>InternVL</a:t>
            </a:r>
            <a:r>
              <a:rPr lang="en-US" sz="2400" b="1"/>
              <a:t> 3.5  </a:t>
            </a:r>
            <a:r>
              <a:rPr lang="en-GB" sz="2400"/>
              <a:t>Experiment</a:t>
            </a:r>
            <a:r>
              <a:rPr lang="zh-TW" altLang="en-US" sz="2400"/>
              <a:t> </a:t>
            </a:r>
            <a:r>
              <a:rPr lang="en-US" altLang="zh-TW" sz="2400"/>
              <a:t>Results with Different Compression Methods</a:t>
            </a:r>
            <a:endParaRPr lang="en-GB" sz="24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7AAC9-AA9D-F1A4-6EB6-12EA16904FD6}"/>
              </a:ext>
            </a:extLst>
          </p:cNvPr>
          <p:cNvSpPr txBox="1">
            <a:spLocks/>
          </p:cNvSpPr>
          <p:nvPr/>
        </p:nvSpPr>
        <p:spPr>
          <a:xfrm>
            <a:off x="1763471" y="1212227"/>
            <a:ext cx="9898442" cy="1709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/>
              <a:t>最理想的細節 </a:t>
            </a:r>
            <a:r>
              <a:rPr lang="en-GB" sz="1400"/>
              <a:t>tile </a:t>
            </a:r>
            <a:r>
              <a:rPr lang="zh-TW" altLang="en-US" sz="1400"/>
              <a:t>解析度，大約是「一個 </a:t>
            </a:r>
            <a:r>
              <a:rPr lang="en-GB" sz="1400"/>
              <a:t>tile </a:t>
            </a:r>
            <a:r>
              <a:rPr lang="zh-TW" altLang="en-US" sz="1400"/>
              <a:t>像素對應一個原圖像素」，也就是網格塊數約為 </a:t>
            </a:r>
            <a:r>
              <a:rPr lang="en-GB" sz="1400"/>
              <a:t>W×H / 448²</a:t>
            </a:r>
          </a:p>
          <a:p>
            <a:r>
              <a:rPr lang="zh-TW" altLang="en-US" sz="1400"/>
              <a:t>大圖必須先 </a:t>
            </a:r>
            <a:r>
              <a:rPr lang="en-GB" sz="1400" b="1"/>
              <a:t>resize</a:t>
            </a:r>
            <a:r>
              <a:rPr lang="en-GB" sz="1400"/>
              <a:t>，</a:t>
            </a:r>
            <a:r>
              <a:rPr lang="zh-TW" altLang="en-US" sz="1400"/>
              <a:t>再切成一格一格的 </a:t>
            </a:r>
            <a:r>
              <a:rPr lang="en-GB" sz="1400"/>
              <a:t>tile。</a:t>
            </a:r>
            <a:r>
              <a:rPr lang="en-GB" sz="1400" b="1"/>
              <a:t>「</a:t>
            </a:r>
            <a:r>
              <a:rPr lang="zh-TW" altLang="en-US" sz="1400" b="1"/>
              <a:t>網格」就是決定要把圖切成幾</a:t>
            </a:r>
            <a:r>
              <a:rPr lang="en-US" altLang="zh-TW" sz="1400" b="1"/>
              <a:t>×</a:t>
            </a:r>
            <a:r>
              <a:rPr lang="zh-TW" altLang="en-US" sz="1400" b="1"/>
              <a:t>幾</a:t>
            </a:r>
            <a:r>
              <a:rPr lang="zh-TW" altLang="en-US" sz="1400"/>
              <a:t>：</a:t>
            </a:r>
          </a:p>
          <a:p>
            <a:r>
              <a:rPr lang="zh-TW" altLang="en-US" sz="1400"/>
              <a:t>網格越大（塊數越多），每塊 </a:t>
            </a:r>
            <a:r>
              <a:rPr lang="en-GB" sz="1400"/>
              <a:t>tile </a:t>
            </a:r>
            <a:r>
              <a:rPr lang="zh-TW" altLang="en-US" sz="1400"/>
              <a:t>涵蓋的原圖範圍越小，看得越清楚。</a:t>
            </a:r>
          </a:p>
          <a:p>
            <a:r>
              <a:rPr lang="zh-TW" altLang="en-US" sz="1400"/>
              <a:t>網格越小，每塊涵蓋的範圍越大，看得越模糊。</a:t>
            </a:r>
          </a:p>
          <a:p>
            <a:endParaRPr lang="en-GB" sz="1000" b="1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96DB2-9722-31FA-1350-09B74E471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313" y="2784937"/>
            <a:ext cx="6002131" cy="1146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042A7-1690-2D07-6730-D9DAF84AB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825" y="1519030"/>
            <a:ext cx="1834962" cy="19099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6D7BF6-24F7-AE86-339D-AA5B4203D5D4}"/>
              </a:ext>
            </a:extLst>
          </p:cNvPr>
          <p:cNvSpPr txBox="1"/>
          <p:nvPr/>
        </p:nvSpPr>
        <p:spPr>
          <a:xfrm>
            <a:off x="934278" y="4386470"/>
            <a:ext cx="6036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s </a:t>
            </a:r>
            <a:r>
              <a:rPr lang="zh-TW" altLang="en-US" sz="1400" b="1"/>
              <a:t>決定細節 </a:t>
            </a:r>
            <a:r>
              <a:rPr lang="en-GB" sz="1400" b="1"/>
              <a:t>tile </a:t>
            </a:r>
            <a:r>
              <a:rPr lang="zh-TW" altLang="en-US" sz="1400" b="1"/>
              <a:t>的「放大倍率」</a:t>
            </a:r>
            <a:r>
              <a:rPr lang="zh-TW" altLang="en-US" sz="1400"/>
              <a:t>。</a:t>
            </a:r>
            <a:r>
              <a:rPr lang="en-GB" sz="1400"/>
              <a:t>s </a:t>
            </a:r>
            <a:r>
              <a:rPr lang="zh-TW" altLang="en-US" sz="1400"/>
              <a:t>越大，每塊 </a:t>
            </a:r>
            <a:r>
              <a:rPr lang="en-GB" sz="1400"/>
              <a:t>tile </a:t>
            </a:r>
            <a:r>
              <a:rPr lang="zh-TW" altLang="en-US" sz="1400"/>
              <a:t>看到的範圍越小、越細。</a:t>
            </a:r>
            <a:endParaRPr lang="en-GB" altLang="zh-TW" sz="1400"/>
          </a:p>
          <a:p>
            <a:r>
              <a:rPr lang="en-GB" sz="1400" b="1" err="1"/>
              <a:t>m</a:t>
            </a:r>
            <a:r>
              <a:rPr lang="en-GB" sz="1400" err="1"/>
              <a:t>：budget</a:t>
            </a:r>
            <a:r>
              <a:rPr lang="en-GB" sz="1400"/>
              <a:t> </a:t>
            </a:r>
            <a:r>
              <a:rPr lang="zh-TW" altLang="en-US" sz="1400"/>
              <a:t>中多少比例看全貌、多少比例放大</a:t>
            </a:r>
            <a:endParaRPr lang="en-US" sz="14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12E345-3C0D-283C-CD0A-5689AFE49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134807"/>
              </p:ext>
            </p:extLst>
          </p:nvPr>
        </p:nvGraphicFramePr>
        <p:xfrm>
          <a:off x="1171231" y="5145436"/>
          <a:ext cx="6742113" cy="12573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798513">
                  <a:extLst>
                    <a:ext uri="{9D8B030D-6E8A-4147-A177-3AD203B41FA5}">
                      <a16:colId xmlns:a16="http://schemas.microsoft.com/office/drawing/2014/main" val="287301441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00164274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975650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14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覆蓋 </a:t>
                      </a:r>
                      <a:r>
                        <a:rPr lang="en-GB" sz="1400">
                          <a:effectLst/>
                        </a:rPr>
                        <a:t>tile（m </a:t>
                      </a:r>
                      <a:r>
                        <a:rPr lang="zh-TW" altLang="en-US" sz="1400">
                          <a:effectLst/>
                        </a:rPr>
                        <a:t>塊）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細節 </a:t>
                      </a:r>
                      <a:r>
                        <a:rPr lang="en-GB" sz="1400">
                          <a:effectLst/>
                        </a:rPr>
                        <a:t>tile（K − m </a:t>
                      </a:r>
                      <a:r>
                        <a:rPr lang="zh-TW" altLang="en-US" sz="1400">
                          <a:effectLst/>
                        </a:rPr>
                        <a:t>塊）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242005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怎麼產生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整張圖縮小後切成 </a:t>
                      </a:r>
                      <a:r>
                        <a:rPr lang="en-GB" sz="1400">
                          <a:effectLst/>
                        </a:rPr>
                        <a:t>m </a:t>
                      </a:r>
                      <a:r>
                        <a:rPr lang="zh-TW" altLang="en-US" sz="1400">
                          <a:effectLst/>
                        </a:rPr>
                        <a:t>塊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從上面的細節網格中挑選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368033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解析度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低（整張圖只用 </a:t>
                      </a:r>
                      <a:r>
                        <a:rPr lang="en-GB" sz="1400">
                          <a:effectLst/>
                        </a:rPr>
                        <a:t>m </a:t>
                      </a:r>
                      <a:r>
                        <a:rPr lang="zh-TW" altLang="en-US" sz="1400">
                          <a:effectLst/>
                        </a:rPr>
                        <a:t>塊來表示）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高（由 </a:t>
                      </a:r>
                      <a:r>
                        <a:rPr lang="en-GB" sz="1400">
                          <a:effectLst/>
                        </a:rPr>
                        <a:t>s </a:t>
                      </a:r>
                      <a:r>
                        <a:rPr lang="zh-TW" altLang="en-US" sz="1400">
                          <a:effectLst/>
                        </a:rPr>
                        <a:t>決定）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2900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用途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讓模型看到</a:t>
                      </a:r>
                      <a:r>
                        <a:rPr lang="zh-TW" altLang="en-US" sz="1400" b="1">
                          <a:effectLst/>
                        </a:rPr>
                        <a:t>全貌</a:t>
                      </a:r>
                      <a:endParaRPr lang="zh-TW" altLang="en-US" sz="14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讓模型</a:t>
                      </a:r>
                      <a:r>
                        <a:rPr lang="zh-TW" altLang="en-US" sz="1400" b="1">
                          <a:effectLst/>
                        </a:rPr>
                        <a:t>放大看</a:t>
                      </a:r>
                      <a:r>
                        <a:rPr lang="zh-TW" altLang="en-US" sz="1400">
                          <a:effectLst/>
                        </a:rPr>
                        <a:t>關鍵區域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765401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怎麼選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>
                          <a:effectLst/>
                        </a:rPr>
                        <a:t>全部放進去，不用選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effectLst/>
                        </a:rPr>
                        <a:t>prior </a:t>
                      </a:r>
                      <a:r>
                        <a:rPr lang="zh-TW" altLang="en-US" sz="1400">
                          <a:effectLst/>
                        </a:rPr>
                        <a:t>加 </a:t>
                      </a:r>
                      <a:r>
                        <a:rPr lang="en-GB" sz="1400" err="1">
                          <a:effectLst/>
                        </a:rPr>
                        <a:t>q_attn</a:t>
                      </a:r>
                      <a:r>
                        <a:rPr lang="en-GB" sz="1400">
                          <a:effectLst/>
                        </a:rPr>
                        <a:t> </a:t>
                      </a:r>
                      <a:r>
                        <a:rPr lang="zh-TW" altLang="en-US" sz="1400">
                          <a:effectLst/>
                        </a:rPr>
                        <a:t>挑出和問題最相關的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90492185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AE4D224F-8E5E-FFF4-CC75-225BA97A7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736" y="4692859"/>
            <a:ext cx="3927969" cy="170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0869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525325</TotalTime>
  <Words>3158</Words>
  <Application>Microsoft Macintosh PowerPoint</Application>
  <PresentationFormat>Widescreen</PresentationFormat>
  <Paragraphs>375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Joint Management Middleware to Improve Training Performance of Deep Recommendation Systems with SSDs</dc:title>
  <dc:creator>Jack Jou</dc:creator>
  <cp:lastModifiedBy>Jack Jou</cp:lastModifiedBy>
  <cp:revision>1870</cp:revision>
  <dcterms:created xsi:type="dcterms:W3CDTF">2024-04-04T01:57:48Z</dcterms:created>
  <dcterms:modified xsi:type="dcterms:W3CDTF">2026-10-25T04:12:10Z</dcterms:modified>
</cp:coreProperties>
</file>